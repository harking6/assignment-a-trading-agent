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b47324f12a48a8" /><Relationship Type="http://schemas.openxmlformats.org/officeDocument/2006/relationships/extended-properties" Target="/docProps/app.xml" Id="R3fddc9299d85440d" /><Relationship Type="http://schemas.openxmlformats.org/officeDocument/2006/relationships/officeDocument" Target="/ppt/presentation.xml" Id="Rac01a1e247f9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acf753ef54538"/>
  </p:sldMasterIdLst>
  <p:notesMasterIdLst>
    <p:notesMasterId xmlns:r="http://schemas.openxmlformats.org/officeDocument/2006/relationships" r:id="R50f8d80c11934d35"/>
  </p:notesMasterIdLst>
  <p:sldIdLst>
    <p:sldId xmlns:r="http://schemas.openxmlformats.org/officeDocument/2006/relationships" id="256" r:id="Rfad5e63bedb7487d"/>
    <p:sldId xmlns:r="http://schemas.openxmlformats.org/officeDocument/2006/relationships" id="257" r:id="Rd4c207bd90264d63"/>
    <p:sldId xmlns:r="http://schemas.openxmlformats.org/officeDocument/2006/relationships" id="258" r:id="Rf4f430e012fc4375"/>
    <p:sldId xmlns:r="http://schemas.openxmlformats.org/officeDocument/2006/relationships" id="259" r:id="R815ec4cd4e80445a"/>
    <p:sldId xmlns:r="http://schemas.openxmlformats.org/officeDocument/2006/relationships" id="260" r:id="R5a6769fd76524d0f"/>
    <p:sldId xmlns:r="http://schemas.openxmlformats.org/officeDocument/2006/relationships" id="261" r:id="Rf5321bea9c0540c0"/>
    <p:sldId xmlns:r="http://schemas.openxmlformats.org/officeDocument/2006/relationships" id="262" r:id="R9946b2261ace4be7"/>
    <p:sldId xmlns:r="http://schemas.openxmlformats.org/officeDocument/2006/relationships" id="263" r:id="R3552fa8d39bc41fe"/>
    <p:sldId xmlns:r="http://schemas.openxmlformats.org/officeDocument/2006/relationships" id="264" r:id="Re9003006d5014d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49279ac099479f" /><Relationship Type="http://schemas.openxmlformats.org/officeDocument/2006/relationships/slideMaster" Target="/ppt/slideMasters/slideMaster1.xml" Id="R040acf753ef54538" /><Relationship Type="http://schemas.openxmlformats.org/officeDocument/2006/relationships/notesMaster" Target="/ppt/notesMasters/notesMaster1.xml" Id="R50f8d80c11934d35" /><Relationship Type="http://schemas.openxmlformats.org/officeDocument/2006/relationships/presProps" Target="/ppt/presProps.xml" Id="R90e781135c344560" /><Relationship Type="http://schemas.openxmlformats.org/officeDocument/2006/relationships/tableStyles" Target="/ppt/tableStyles.xml" Id="R5f16d15265644ae1" /><Relationship Type="http://schemas.openxmlformats.org/officeDocument/2006/relationships/slide" Target="/ppt/slides/slide1.xml" Id="Rfad5e63bedb7487d" /><Relationship Type="http://schemas.openxmlformats.org/officeDocument/2006/relationships/slide" Target="/ppt/slides/slide2.xml" Id="Rd4c207bd90264d63" /><Relationship Type="http://schemas.openxmlformats.org/officeDocument/2006/relationships/slide" Target="/ppt/slides/slide3.xml" Id="Rf4f430e012fc4375" /><Relationship Type="http://schemas.openxmlformats.org/officeDocument/2006/relationships/slide" Target="/ppt/slides/slide4.xml" Id="R815ec4cd4e80445a" /><Relationship Type="http://schemas.openxmlformats.org/officeDocument/2006/relationships/slide" Target="/ppt/slides/slide5.xml" Id="R5a6769fd76524d0f" /><Relationship Type="http://schemas.openxmlformats.org/officeDocument/2006/relationships/slide" Target="/ppt/slides/slide6.xml" Id="Rf5321bea9c0540c0" /><Relationship Type="http://schemas.openxmlformats.org/officeDocument/2006/relationships/slide" Target="/ppt/slides/slide7.xml" Id="R9946b2261ace4be7" /><Relationship Type="http://schemas.openxmlformats.org/officeDocument/2006/relationships/slide" Target="/ppt/slides/slide8.xml" Id="R3552fa8d39bc41fe" /><Relationship Type="http://schemas.openxmlformats.org/officeDocument/2006/relationships/slide" Target="/ppt/slides/slide9.xml" Id="Re9003006d5014d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7a4fbc375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3dfe0c96a4bab" /><Relationship Type="http://schemas.openxmlformats.org/officeDocument/2006/relationships/notesMaster" Target="/ppt/notesMasters/notesMaster1.xml" Id="Ra92bac02e6fa49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cb0bc9ba04b57" /><Relationship Type="http://schemas.openxmlformats.org/officeDocument/2006/relationships/notesMaster" Target="/ppt/notesMasters/notesMaster1.xml" Id="R6318e202dde847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cc8ce301e4e24" /><Relationship Type="http://schemas.openxmlformats.org/officeDocument/2006/relationships/notesMaster" Target="/ppt/notesMasters/notesMaster1.xml" Id="Rc5079ef599eb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8f3084c6b42a5" /><Relationship Type="http://schemas.openxmlformats.org/officeDocument/2006/relationships/notesMaster" Target="/ppt/notesMasters/notesMaster1.xml" Id="R7b91ea10bf10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1aa82c7064291" /><Relationship Type="http://schemas.openxmlformats.org/officeDocument/2006/relationships/notesMaster" Target="/ppt/notesMasters/notesMaster1.xml" Id="R7f6f8916f3314b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1a27e7e8a423f" /><Relationship Type="http://schemas.openxmlformats.org/officeDocument/2006/relationships/notesMaster" Target="/ppt/notesMasters/notesMaster1.xml" Id="Raeac13c6de2b4b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f0607507ce40cc" /><Relationship Type="http://schemas.openxmlformats.org/officeDocument/2006/relationships/notesMaster" Target="/ppt/notesMasters/notesMaster1.xml" Id="Rbd8f0ed68c6442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df735efbc24749" /><Relationship Type="http://schemas.openxmlformats.org/officeDocument/2006/relationships/notesMaster" Target="/ppt/notesMasters/notesMaster1.xml" Id="R4a716cbf43714d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4d367400c4039" /><Relationship Type="http://schemas.openxmlformats.org/officeDocument/2006/relationships/notesMaster" Target="/ppt/notesMasters/notesMaster1.xml" Id="R2ad176d387fb43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开场：我做的是一个 AI 交易员。它从全市场候选池出发，自动判断市场、选择行业和个股，最后在硬风控下生成订单。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docs/PPT大纲.md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这一页只讲主流程：系统不是预测单只股票涨跌，而是每次重新规划整个目标组合。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docs/PPT大纲.md</a:t>
            </a:r>
          </a:p>
          <a:p xmlns:a="http://schemas.openxmlformats.org/drawingml/2006/main">
            <a:r>
              <a:t>- docs/系统设计文档.md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强调边界：工具层取数据，规则层把能确定的先确定，记忆层补充经验，LLM 只做语义合成，约束层拥有最终否决权。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docs/系统设计文档.md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六类情报中，前四类是规则计算，后两类来自记忆与知识库。LLM 不需要从价格数字重新推断所有中间结论。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docs/系统设计文档.md</a:t>
            </a:r>
          </a:p>
          <a:p xmlns:a="http://schemas.openxmlformats.org/drawingml/2006/main">
            <a:r>
              <a:t>- agents/top_down.py</a:t>
            </a:r>
          </a:p>
          <a:p xmlns:a="http://schemas.openxmlformats.org/drawingml/2006/main">
            <a:r>
              <a:t>- agents/memory.py</a:t>
            </a:r>
          </a:p>
          <a:p xmlns:a="http://schemas.openxmlformats.org/drawingml/2006/main">
            <a:r>
              <a:t>- tools/news.py</a:t>
            </a:r>
          </a:p>
          <a:p xmlns:a="http://schemas.openxmlformats.org/drawingml/2006/main">
            <a:r>
              <a:t>- tools/rag.py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左边是传统问法，右边是系统实际交给 LLM 的上下文。关键不是让模型读更多数据，而是让它读已经加工过的高价值先验。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用户提供的六类情报说明</a:t>
            </a:r>
          </a:p>
          <a:p xmlns:a="http://schemas.openxmlformats.org/drawingml/2006/main">
            <a:r>
              <a:t>- docs/系统设计文档.md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这不是四个 Agent 随意讨论，而是沿 Top-Down 链路逐步缩小决策空间。最终输出仍要经过硬风控。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docs/系统设计文档.md</a:t>
            </a:r>
          </a:p>
          <a:p xmlns:a="http://schemas.openxmlformats.org/drawingml/2006/main">
            <a:r>
              <a:t>- agents/top_down.py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记忆不是聊天历史，而是带结果标签的决策样本。小于 3 条时不注入，是为了避免偶然样本把 LLM 带偏。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docs/memory层设计.md</a:t>
            </a:r>
          </a:p>
          <a:p xmlns:a="http://schemas.openxmlformats.org/drawingml/2006/main">
            <a:r>
              <a:t>- docs/agent学习层设计.md</a:t>
            </a:r>
          </a:p>
          <a:p xmlns:a="http://schemas.openxmlformats.org/drawingml/2006/main">
            <a:r>
              <a:t>- agents/memory.py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结果要客观讲：LLM 在四段行情里有三段改善超额，但在 924 急涨中依然明显跑输基准。原因主要是趋势信号滞后与候选池限制。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data/multi_regime_results.json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收束：系统价值不在于让 LLM 包办交易，而在于给它明确分工、充分情报和不可绕过的边界。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docs/系统设计文档.md</a:t>
            </a:r>
          </a:p>
          <a:p xmlns:a="http://schemas.openxmlformats.org/drawingml/2006/main">
            <a:r>
              <a:t>- 用户确认：规则/记忆 60%，LLM 推理 40%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093616e1b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28fa9f6ad46a0" /><Relationship Type="http://schemas.openxmlformats.org/officeDocument/2006/relationships/slideLayout" Target="/ppt/slideLayouts/slideLayout1.xml" Id="R460375e543b14f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375e543b14f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0dda02da1414f" /><Relationship Type="http://schemas.openxmlformats.org/officeDocument/2006/relationships/notesSlide" Target="/ppt/notesSlides/notesSlide1.xml" Id="R61dd7b85c71c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9a7bbd6964774" /><Relationship Type="http://schemas.openxmlformats.org/officeDocument/2006/relationships/notesSlide" Target="/ppt/notesSlides/notesSlide2.xml" Id="R8ac2965a970e4a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22e8fa00045fb" /><Relationship Type="http://schemas.openxmlformats.org/officeDocument/2006/relationships/notesSlide" Target="/ppt/notesSlides/notesSlide3.xml" Id="R8585e288e610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aab50821e4ec4" /><Relationship Type="http://schemas.openxmlformats.org/officeDocument/2006/relationships/notesSlide" Target="/ppt/notesSlides/notesSlide4.xml" Id="R3dd6ae5781d7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c68d7bdcb4045" /><Relationship Type="http://schemas.openxmlformats.org/officeDocument/2006/relationships/notesSlide" Target="/ppt/notesSlides/notesSlide5.xml" Id="R4cb1d9a6789d4d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6a8a84fe4827" /><Relationship Type="http://schemas.openxmlformats.org/officeDocument/2006/relationships/notesSlide" Target="/ppt/notesSlides/notesSlide6.xml" Id="R8db52d79862e42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2c8945f4f4ff8" /><Relationship Type="http://schemas.openxmlformats.org/officeDocument/2006/relationships/notesSlide" Target="/ppt/notesSlides/notesSlide7.xml" Id="R4d8a7f5ec66c43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4df6acbd843fc" /><Relationship Type="http://schemas.openxmlformats.org/officeDocument/2006/relationships/notesSlide" Target="/ppt/notesSlides/notesSlide8.xml" Id="Rd72861899bdc4b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d90c033f449d2" /><Relationship Type="http://schemas.openxmlformats.org/officeDocument/2006/relationships/notesSlide" Target="/ppt/notesSlides/notesSlide9.xml" Id="R561f2f16bf554e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54DB9-9AF2-497E-BECF-B81824CC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F2774-E9D0-47EE-975E-A0BA553A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TRADING AGENT ·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75AEB-04DB-4ABF-A17E-CE39E37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52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2124"/>
                </a:solidFill>
              </a:defRPr>
            </a:pPr>
            <a:r>
              <a:rPr sz="3900" b="1">
                <a:solidFill>
                  <a:srgbClr val="202124"/>
                </a:solidFill>
              </a:rPr>
              <a:t>基于 LangGraph 的多标的</a:t>
            </a:r>
          </a:p>
          <a:p xmlns:a="http://schemas.openxmlformats.org/drawingml/2006/main">
            <a:pPr algn="l">
              <a:defRPr sz="3900" b="1">
                <a:solidFill>
                  <a:srgbClr val="202124"/>
                </a:solidFill>
              </a:defRPr>
            </a:pPr>
            <a:r>
              <a:rPr sz="3900" b="1">
                <a:solidFill>
                  <a:srgbClr val="202124"/>
                </a:solidFill>
              </a:rPr>
              <a:t>Top-Down 智能交易系统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8374E-128A-447E-944F-D0FBE70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386"/>
                </a:solidFill>
              </a:defRPr>
            </a:pPr>
            <a:r>
              <a:rPr sz="1800" b="0">
                <a:solidFill>
                  <a:srgbClr val="697386"/>
                </a:solidFill>
              </a:rPr>
              <a:t>规则 + LLM 五层耦合 · 经验学习闭环 · 动态行业轮动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3C5A8-887E-4688-978B-E13B3BCA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190625"/>
            <a:ext cx="2762250" cy="381000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7F0F8"/>
          </a:solidFill>
          <a:ln xmlns:a="http://schemas.openxmlformats.org/drawingml/2006/main" w="9525">
            <a:solidFill>
              <a:srgbClr val="D6B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0E19C-AB34-4935-B258-DD292A0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57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E006E"/>
                </a:solidFill>
              </a:defRPr>
            </a:pPr>
            <a:r>
              <a:rPr sz="1950" b="1">
                <a:solidFill>
                  <a:srgbClr val="6E006E"/>
                </a:solidFill>
              </a:rPr>
              <a:t>规则层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9673D-2813-4C45-8DD6-95BF0D74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97386"/>
                </a:solidFill>
              </a:defRPr>
            </a:pPr>
            <a:r>
              <a:rPr sz="1350" b="0">
                <a:solidFill>
                  <a:srgbClr val="697386"/>
                </a:solidFill>
              </a:rPr>
              <a:t>结构化先验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D0594-684D-4B94-8B06-A32D0DDF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2412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00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9D56C-8346-444B-973D-36151770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C2"/>
                </a:solidFill>
              </a:defRPr>
            </a:pPr>
            <a:r>
              <a:rPr sz="1950" b="1">
                <a:solidFill>
                  <a:srgbClr val="1769C2"/>
                </a:solidFill>
              </a:rPr>
              <a:t>LLM 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C1E8-8454-4CDC-8450-6C69968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97386"/>
                </a:solidFill>
              </a:defRPr>
            </a:pPr>
            <a:r>
              <a:rPr sz="1350" b="0">
                <a:solidFill>
                  <a:srgbClr val="697386"/>
                </a:solidFill>
              </a:rPr>
              <a:t>综合语义判断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93327-A8A0-4B9C-93B0-8A1F675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814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A7EF9-ECDA-4E8F-901B-A857069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243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B5058"/>
                </a:solidFill>
              </a:defRPr>
            </a:pPr>
            <a:r>
              <a:rPr sz="1950" b="1">
                <a:solidFill>
                  <a:srgbClr val="4B5058"/>
                </a:solidFill>
              </a:rPr>
              <a:t>约束层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B657B-3AAA-43B0-9DA1-A7B4EB13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434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97386"/>
                </a:solidFill>
              </a:defRPr>
            </a:pPr>
            <a:r>
              <a:rPr sz="1350" b="0">
                <a:solidFill>
                  <a:srgbClr val="697386"/>
                </a:solidFill>
              </a:rPr>
              <a:t>硬风控执行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0DA34-8F84-4B51-9E0C-4D9783A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</a:defRPr>
            </a:pPr>
            <a:r>
              <a:rPr sz="1350" b="0">
                <a:solidFill>
                  <a:srgbClr val="697386"/>
                </a:solidFill>
              </a:rPr>
              <a:t>南京大学暑期学校 · Assignment A</a:t>
            </a:r>
          </a:p>
        </p:txBody>
      </p:sp>
    </p:spTree>
    <p:extLst>
      <p:ext uri="{BB962C8B-B14F-4D97-AF65-F5344CB8AC3E}">
        <p14:creationId xmlns:p14="http://schemas.microsoft.com/office/powerpoint/2010/main" val="1345222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CD424A-A9EA-4952-9904-FA3AC09F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01 · 一句话讲清楚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4149B-6A59-4661-8B72-48067836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系统把选股拆成一条可解释的 Top-Down 决策链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19260-1179-4D88-B454-0424F11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BA2A7-D591-48EF-98C1-8737C73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813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00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68998-D310-4C22-B3B8-F8EF67DC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57500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A4C27-D9A1-4108-AC6D-E5205DE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809750" cy="195262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97A9B-1FA3-4056-B670-9EB11380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66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90828-C65B-4A29-8D51-0EB5EA6D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98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全市场候选池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0952D-6406-47A3-BA55-8B8A029E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43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006E"/>
                </a:solidFill>
              </a:defRPr>
            </a:pPr>
            <a:r>
              <a:rPr sz="1275" b="1">
                <a:solidFill>
                  <a:srgbClr val="6E006E"/>
                </a:solidFill>
              </a:rPr>
              <a:t>加载与预筛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0780E-03B8-441A-A0B0-145B28B8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5000+ A股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FD28C-6D80-4642-B180-B5D12D9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813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00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219A7-1116-46B1-8ED6-BC5657BA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51883-AE3E-4CE9-B518-8DD02E6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95500"/>
            <a:ext cx="1809750" cy="195262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E648B-3BED-4CD5-AAA1-88A41141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E20C8-98B2-4D54-83CE-0E1FC34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市场观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44D8D-8157-47C0-A694-372D9B4E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006E"/>
                </a:solidFill>
              </a:defRPr>
            </a:pPr>
            <a:r>
              <a:rPr sz="1275" b="1">
                <a:solidFill>
                  <a:srgbClr val="6E006E"/>
                </a:solidFill>
              </a:rPr>
              <a:t>趋势评分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6BE03-753D-465A-A81C-6C965C27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33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bullish / neutral / bearish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6EAA1-C366-4D66-BE9B-DCC84153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813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00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A6CD0-D4F3-47C6-B241-D814168D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5BDB0-5BED-4039-8A06-549AD5BC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95500"/>
            <a:ext cx="1809750" cy="195262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68FEC-5C1F-45C7-8306-33FC13D5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66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F53C4-0573-4BA8-9782-9D0F1F10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98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行业轮动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BB526-39B0-4D40-91C8-8FFF644F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43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006E"/>
                </a:solidFill>
              </a:defRPr>
            </a:pPr>
            <a:r>
              <a:rPr sz="1275" b="1">
                <a:solidFill>
                  <a:srgbClr val="6E006E"/>
                </a:solidFill>
              </a:rPr>
              <a:t>RS + 20日动量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F8075-A896-4865-9A16-FDF7D21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433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选最强板块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E6A48-E4B2-4AC0-AC6A-E8DBC10A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813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00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2F775-CFCF-40A3-ABAC-B2305AF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57500"/>
            <a:ext cx="28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965C0-FE99-4E30-A95E-9722D09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1809750" cy="195262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7625C-D9AD-443F-AA7F-CC3C20B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B2A30-9B61-4DDF-B186-107D89E7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个股精选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81201-F2E5-4D86-844A-A5DF3DE4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006E"/>
                </a:solidFill>
              </a:defRPr>
            </a:pPr>
            <a:r>
              <a:rPr sz="1275" b="1">
                <a:solidFill>
                  <a:srgbClr val="6E006E"/>
                </a:solidFill>
              </a:rPr>
              <a:t>动量 + 质量 + 情绪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E8B4F-C71E-4F70-9724-5B983C29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433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候选排序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AD4645-2CE4-4132-8407-A185515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95500"/>
            <a:ext cx="1809750" cy="195262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7F0F8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76F0B-2D2B-4A9D-B1E2-ADAC54E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66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7F02C-0137-4FC9-A64D-D7FFC1EB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098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仓位分配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80B8B6-264F-4071-9C14-2786EBB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43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006E"/>
                </a:solidFill>
              </a:defRPr>
            </a:pPr>
            <a:r>
              <a:rPr sz="1275" b="1">
                <a:solidFill>
                  <a:srgbClr val="6E006E"/>
                </a:solidFill>
              </a:rPr>
              <a:t>权重 → 股数 → 风控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735C3E-0FC6-40E4-8AAB-A0DB8B4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433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最终订单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397AAA-E029-45E1-BEE5-917A7205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72000"/>
            <a:ext cx="7334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E4E5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8DC93B-D91F-485B-A909-72C4760F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E006E"/>
                </a:solidFill>
              </a:defRPr>
            </a:pPr>
            <a:r>
              <a:rPr sz="2025" b="1">
                <a:solidFill>
                  <a:srgbClr val="6E006E"/>
                </a:solidFill>
              </a:rPr>
              <a:t>每 3 天重新排名一次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033B15-8463-4695-BD2B-A14BE6D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291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排名上升 → 加仓    排名下降 → 减仓    掉出候选池 → 清仓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9912F9-2A25-4EB2-AE2A-0E5B9B6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7716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C7CB3-1BD5-4627-8009-2D08C15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02 ·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FA89-545C-4AA6-8C99-6018BF8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五层解耦：数据向上流动，风险在最后收口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0CC21-393D-4399-9FB2-F3870E1C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47CD7-8FEB-46B9-8ACB-EB77CA9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85900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B50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A0BB4-2A35-478C-AB05-D49DD3AC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859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B5058"/>
          </a:solidFill>
          <a:ln xmlns:a="http://schemas.openxmlformats.org/drawingml/2006/main" w="0">
            <a:solidFill>
              <a:srgbClr val="4B5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EC969-5DA1-4AE4-8DDB-8D7F6C0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764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⑤ 约束层 · 硬风控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0938B-F3FC-436A-9D52-9F54DF4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859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现金≥5% · 单股≤25% · 最多6只 · 整手/滑点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9A06D-C431-4A39-9C4B-21D9BAFC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B0157-25E7-4862-871F-C4A133AD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0AE4B-F064-4588-91B2-D513B61C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527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④ LLM层 · 语义合成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EBDB8-F3F8-4BE4-BA66-060CB84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622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市场观 Agent · 行业 Agent · 个股 Agent · 分配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2A5F4-4AD9-499B-A712-C3D8CF05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2976-5D41-43AE-9E71-0CD9F34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9E72D-0A19-41E6-9C08-765C7282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③ 记忆层 · 经验积累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81650-ECED-4ACF-A2BA-A4A123B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385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相似经验召回 · 结果回填 · 行业知识与交易书籍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C5099-9BE0-4DA7-BC32-A0E921A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2D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82B11-478C-4F7E-8D97-DCB0D5F0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D91"/>
          </a:solidFill>
          <a:ln xmlns:a="http://schemas.openxmlformats.org/drawingml/2006/main" w="0">
            <a:solidFill>
              <a:srgbClr val="8A2D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41DB1-A999-4E14-9C4E-5C78965A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053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② 规则层 · 特征工程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DA203-2DEF-4302-B6AB-DA72F39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148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趋势评分 · 行业排名 · K线特征 · 情绪快照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54DA7-B69D-48AD-A190-5E1C59F1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8D9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79C98-506E-49F3-8B3D-B401FC40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8D92"/>
          </a:solidFill>
          <a:ln xmlns:a="http://schemas.openxmlformats.org/drawingml/2006/main" w="0">
            <a:solidFill>
              <a:srgbClr val="8A8D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B1E85-88A2-43C0-A9E6-8CF5FC8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816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① 工具层 · 基础设施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4C1EB-34D5-47EB-AA9C-3F286E59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9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行情 · 指标 · 模拟券商 · LangChain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31CCB-09DF-4CA3-BE09-6009E5E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66900"/>
            <a:ext cx="400050" cy="3333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F55A2-B05A-4FD6-88F7-D42FAB3A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495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006E"/>
                </a:solidFill>
              </a:defRPr>
            </a:pPr>
            <a:r>
              <a:rPr sz="1350" b="1">
                <a:solidFill>
                  <a:srgbClr val="6E006E"/>
                </a:solidFill>
              </a:rPr>
              <a:t>数据自底向上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72DB7-F033-45FE-80C5-85E96AEE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876425"/>
            <a:ext cx="247650" cy="3333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61E56-A090-48ED-B493-E73A170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0"/>
            <a:ext cx="38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C2"/>
                </a:solidFill>
              </a:defRPr>
            </a:pPr>
            <a:r>
              <a:rPr sz="1275" b="1">
                <a:solidFill>
                  <a:srgbClr val="1769C2"/>
                </a:solidFill>
              </a:rPr>
              <a:t>最终订单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F888D-8441-47A3-B651-4448A5DD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7869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1102F9-9977-4148-9311-0DEE9EB1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03 · 规则武装 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23E12-F45C-45A6-A25D-3872E6B3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LLM 拿到的是 6 类结构化情报，而不是裸行情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B5F3E-4D48-46EC-9CF6-D6F5E8F9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9C80A-DD54-4B48-9FA7-E4F24999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390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F62D4-4474-4DE2-8DE8-5714426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C2"/>
                </a:solidFill>
              </a:defRPr>
            </a:pPr>
            <a:r>
              <a:rPr sz="1050" b="1">
                <a:solidFill>
                  <a:srgbClr val="1769C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AB82C-2083-4F24-A69F-A17F597B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趋势评分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5C79C-C23E-4017-B974-2D2DA523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04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386"/>
                </a:solidFill>
              </a:defRPr>
            </a:pPr>
            <a:r>
              <a:rPr sz="975" b="1">
                <a:solidFill>
                  <a:srgbClr val="697386"/>
                </a:solidFill>
              </a:rPr>
              <a:t>市场观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62B9B-5254-4458-8799-369516C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D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049A9-CAC3-4EF3-A312-CD25691E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0.35 · 偏 bullish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A09A4-D22E-4D33-BF39-76984DDD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MA 栈 + MACD + 量比 + 累计收益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4339C-84B0-48EF-9359-1072FAB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43050"/>
            <a:ext cx="3390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B0806-A518-4F3B-A149-0AB1FD68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C2"/>
                </a:solidFill>
              </a:defRPr>
            </a:pPr>
            <a:r>
              <a:rPr sz="1050" b="1">
                <a:solidFill>
                  <a:srgbClr val="1769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7900B-62B6-492B-ADA1-F10E79A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行业排名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EA14E-623E-49D2-95A3-4E155904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04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386"/>
                </a:solidFill>
              </a:defRPr>
            </a:pPr>
            <a:r>
              <a:rPr sz="975" b="1">
                <a:solidFill>
                  <a:srgbClr val="697386"/>
                </a:solidFill>
              </a:rPr>
              <a:t>行业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651DB-12E1-4035-9620-42316F23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D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6A025-0EEC-4C33-8642-62D22C6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57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通信第1 · 电子第2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5B3BA-CD96-423F-BFBD-91924101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z(RS) + 0.5×z(20日动量)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078D5-457D-4A7E-AE85-F52F136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3390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91600-198B-424B-B4BF-6F4180FB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C2"/>
                </a:solidFill>
              </a:defRPr>
            </a:pPr>
            <a:r>
              <a:rPr sz="1050" b="1">
                <a:solidFill>
                  <a:srgbClr val="1769C2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FAE25-7B8B-4A54-83FD-DA91CF30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K线特征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717E7-EB6A-4200-BAE5-ED05497F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04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386"/>
                </a:solidFill>
              </a:defRPr>
            </a:pPr>
            <a:r>
              <a:rPr sz="975" b="1">
                <a:solidFill>
                  <a:srgbClr val="697386"/>
                </a:solidFill>
              </a:rPr>
              <a:t>市场观 / 个股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D9D95-2073-4053-9283-F263F03D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D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69BCF-AB49-4E97-90F1-74684FE4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57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RSI 52 · 波动率 2.1%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BB7C9-7D45-4E54-8210-085E3C04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广度 72% · 均线距离 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DD66B-E039-4303-BE47-8C3CD84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390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7E2A16-9F36-42A2-8ECD-D28B0C8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C2"/>
                </a:solidFill>
              </a:defRPr>
            </a:pPr>
            <a:r>
              <a:rPr sz="1050" b="1">
                <a:solidFill>
                  <a:srgbClr val="1769C2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1011B-EEC4-4066-840F-F84C6B50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情绪快照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5FDCA-5264-488E-89B8-C00EEA5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9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386"/>
                </a:solidFill>
              </a:defRPr>
            </a:pPr>
            <a:r>
              <a:rPr sz="975" b="1">
                <a:solidFill>
                  <a:srgbClr val="697386"/>
                </a:solidFill>
              </a:rPr>
              <a:t>全部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03634-DF70-4753-A9E0-54AB139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D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868E4-455F-4024-811E-9C62079F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市场偏乐观 · 量比 1.8×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DA245-CEE2-4A53-AFF0-7F654102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市场级 + 个股级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C4A1D-28C3-4997-8AB8-920FAF79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3390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D132A9-F360-4535-B8BC-0AAF3C46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C2F19-427E-4B02-B6E0-5E6BCE9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经验课程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48DDB4-65D7-48C5-A2A3-F0B67F6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9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386"/>
                </a:solidFill>
              </a:defRPr>
            </a:pPr>
            <a:r>
              <a:rPr sz="975" b="1">
                <a:solidFill>
                  <a:srgbClr val="697386"/>
                </a:solidFill>
              </a:rPr>
              <a:t>四类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3F831-8501-4D37-9859-888A287A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D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998B1A-A174-41B5-B56F-0A94175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719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006E"/>
                </a:solidFill>
              </a:defRPr>
            </a:pPr>
            <a:r>
              <a:rPr sz="1350" b="1">
                <a:solidFill>
                  <a:srgbClr val="6E006E"/>
                </a:solidFill>
              </a:rPr>
              <a:t>类似形态 bullish → +5.2%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3B53B2-0762-4524-8A95-E9D026F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欧氏距离召回 · ≥3条注入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6A8292-4E6B-41A9-964C-597CA69D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390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B2B957-F674-443D-8B84-B0E5776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4EDA39-788F-4CA3-BBD4-7A9C69E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知识库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775413-7B94-4EB8-A6FD-3B010B5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19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386"/>
                </a:solidFill>
              </a:defRPr>
            </a:pPr>
            <a:r>
              <a:rPr sz="975" b="1">
                <a:solidFill>
                  <a:srgbClr val="697386"/>
                </a:solidFill>
              </a:rPr>
              <a:t>行业 / 个股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7FDC47-3DFD-43C1-A5A9-3E3D61A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D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9FAE9B-BF0C-4F39-B7AB-3D322CDE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719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006E"/>
                </a:solidFill>
              </a:defRPr>
            </a:pPr>
            <a:r>
              <a:rPr sz="1350" b="1">
                <a:solidFill>
                  <a:srgbClr val="6E006E"/>
                </a:solidFill>
              </a:rPr>
              <a:t>行业敏感性 · 趋势纪律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DEACF1-0801-4D00-AD03-6CCBFBC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81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行业备注 + 交易书籍 RAG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9FA48F-936F-4F95-9E3D-EA1CB1C2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6255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3511A-2179-48E1-97BA-422485CF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04 · Prompt 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C9B66-FBD0-49F4-98CB-808046C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同一个问题，信息密度决定 LLM 是推理还是猜测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719F2-4202-423F-87B3-41C7B76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0DFE1-822B-4758-A9DF-204C03F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381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6F6"/>
          </a:solidFill>
          <a:ln xmlns:a="http://schemas.openxmlformats.org/drawingml/2006/main" w="9525">
            <a:solidFill>
              <a:srgbClr val="E8B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EEA07-3200-42B4-A20F-5680697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33D3D"/>
                </a:solidFill>
              </a:defRPr>
            </a:pPr>
            <a:r>
              <a:rPr sz="1950" b="1">
                <a:solidFill>
                  <a:srgbClr val="C33D3D"/>
                </a:solidFill>
              </a:rPr>
              <a:t>传统纯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E9B71-60C0-499E-AE48-A33798E3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</a:rPr>
              <a:t>“今天某股票收盘 3.25 元，</a:t>
            </a:r>
          </a:p>
          <a:p xmlns:a="http://schemas.openxmlformats.org/drawingml/2006/main">
            <a:pPr algn="l"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</a:rPr>
              <a:t>涨了 2.1%，要不要买？”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B245C-6B8B-4A7C-8E11-5DB9421B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BF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273C3-E1E5-43DF-88CF-7C779954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386"/>
                </a:solidFill>
              </a:defRPr>
            </a:pPr>
            <a:r>
              <a:rPr sz="1500" b="0">
                <a:solidFill>
                  <a:srgbClr val="697386"/>
                </a:solidFill>
              </a:rPr>
              <a:t>缺少方向 · 缺少横向比较</a:t>
            </a:r>
          </a:p>
          <a:p xmlns:a="http://schemas.openxmlformats.org/drawingml/2006/main">
            <a:pPr algn="l">
              <a:defRPr sz="1500" b="0">
                <a:solidFill>
                  <a:srgbClr val="697386"/>
                </a:solidFill>
              </a:defRPr>
            </a:pPr>
            <a:r>
              <a:rPr sz="1500" b="0">
                <a:solidFill>
                  <a:srgbClr val="697386"/>
                </a:solidFill>
              </a:rPr>
              <a:t>缺少历史 · 缺少仓位边界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84C65-FF1B-4BA4-9817-24B5A66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33D3D"/>
                </a:solidFill>
              </a:defRPr>
            </a:pPr>
            <a:r>
              <a:rPr sz="1950" b="1">
                <a:solidFill>
                  <a:srgbClr val="C33D3D"/>
                </a:solidFill>
              </a:rPr>
              <a:t>只能猜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9BFBE-7DD1-492F-A0FC-93AB212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62484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7F0F8"/>
          </a:solidFill>
          <a:ln xmlns:a="http://schemas.openxmlformats.org/drawingml/2006/main" w="9525">
            <a:solidFill>
              <a:srgbClr val="CFAA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67B76-275A-4AB5-95C1-7611A85C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71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006E"/>
                </a:solidFill>
              </a:defRPr>
            </a:pPr>
            <a:r>
              <a:rPr sz="1950" b="1">
                <a:solidFill>
                  <a:srgbClr val="6E006E"/>
                </a:solidFill>
              </a:rPr>
              <a:t>五层耦合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4114D-B035-4FA8-91BB-88FB7E58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C2"/>
                </a:solidFill>
              </a:defRPr>
            </a:pPr>
            <a:r>
              <a:rPr sz="1125" b="1">
                <a:solidFill>
                  <a:srgbClr val="1769C2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3EDE4-352C-49A8-85F5-23F8604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趋势 0.35 偏 bullish，MA 多头 + MACD 金叉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AF55B-46BA-4A8E-B8E5-FD1989E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C2"/>
                </a:solidFill>
              </a:defRPr>
            </a:pPr>
            <a:r>
              <a:rPr sz="1125" b="1">
                <a:solidFill>
                  <a:srgbClr val="1769C2"/>
                </a:solidFill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D8129-515C-4AA1-91B4-B166D31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通信第1、电子第2；广度 72%，量比 1.8×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4E2F7-3AF7-4D17-A238-9982D8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52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006E"/>
                </a:solidFill>
              </a:defRPr>
            </a:pPr>
            <a:r>
              <a:rPr sz="1125" b="1">
                <a:solidFill>
                  <a:srgbClr val="6E006E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FF78B-35F5-447E-840F-2B085479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相似形态曾选 bullish，区间超额 +5.2%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C590C-AED0-4A91-8924-294D528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006E"/>
                </a:solidFill>
              </a:defRPr>
            </a:pPr>
            <a:r>
              <a:rPr sz="1125" b="1">
                <a:solidFill>
                  <a:srgbClr val="6E006E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A4231-625F-43C6-A753-4DB1510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电子对政策利率与半导体周期高度敏感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E6E24-46ED-4F7A-859E-274EE8A7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006E"/>
                </a:solidFill>
              </a:defRPr>
            </a:pPr>
            <a:r>
              <a:rPr sz="1125" b="1">
                <a:solidFill>
                  <a:srgbClr val="6E006E"/>
                </a:solidFill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5B4FE-9D49-482A-B9DA-97F37A3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当前现金 40%，持仓 3 只，单股≤25%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EF85C-0C8E-4130-B8BD-5ED92003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567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AA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404D0-548A-400A-B070-8C29C41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57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006E"/>
                </a:solidFill>
              </a:defRPr>
            </a:pPr>
            <a:r>
              <a:rPr sz="1800" b="1">
                <a:solidFill>
                  <a:srgbClr val="6E006E"/>
                </a:solidFill>
              </a:rPr>
              <a:t>问题只剩：选哪些行业、买多少？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9915F-F178-4F73-BEA3-F8ACA1A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9283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B11169-26C6-4B3D-9132-268D41A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05 · 多 Agent 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E2440-9432-472A-BC8E-F9B74394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四类 Agent 各自消费最相关的情报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C54B6-ECD7-4569-A7A2-9A9C5B9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4E04B-1AEE-4F28-BAED-4E4CEBA8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71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E93B-7BE7-4A04-9DEF-B81628C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C2"/>
                </a:solidFill>
              </a:defRPr>
            </a:pPr>
            <a:r>
              <a:rPr sz="1500" b="1">
                <a:solidFill>
                  <a:srgbClr val="1769C2"/>
                </a:solidFill>
              </a:rPr>
              <a:t>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DBE20-B02B-480F-B009-A3500936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市场观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5851F-4595-476F-9AAF-4779F801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判断 bullish / neutral / bearish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9D7FF-80AC-4199-9C37-85C026FF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07065-1CCF-4B3E-A444-0913757F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386"/>
                </a:solidFill>
              </a:defRPr>
            </a:pPr>
            <a:r>
              <a:rPr sz="1050" b="1">
                <a:solidFill>
                  <a:srgbClr val="697386"/>
                </a:solidFill>
              </a:rPr>
              <a:t>输入情报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20F4B-A5D5-4934-8410-AEBECFEF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趋势评分 · K线特征 · 情绪 · 经验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EE177-7852-428E-B4A7-F7148B4E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861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1BC"/>
          </a:solidFill>
          <a:ln xmlns:a="http://schemas.openxmlformats.org/drawingml/2006/main" w="0">
            <a:solidFill>
              <a:srgbClr val="B9A1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59CBD-59FC-4AAF-BAC6-3FC4F7F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71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916C9-8124-4463-8202-59CC9D1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006E"/>
                </a:solidFill>
              </a:defRPr>
            </a:pPr>
            <a:r>
              <a:rPr sz="1500" b="1">
                <a:solidFill>
                  <a:srgbClr val="6E006E"/>
                </a:solidFill>
              </a:rPr>
              <a:t>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6C15C-58BA-4C78-AF26-34716DE4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行业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9D29F-3B08-4734-B378-EEAD2A7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71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006E"/>
                </a:solidFill>
              </a:defRPr>
            </a:pPr>
            <a:r>
              <a:rPr sz="1350" b="1">
                <a:solidFill>
                  <a:srgbClr val="6E006E"/>
                </a:solidFill>
              </a:rPr>
              <a:t>选择最优板块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FB8FF-6E15-495A-A694-4AD0D6A9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15266-894A-419B-B92D-21C016DB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24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386"/>
                </a:solidFill>
              </a:defRPr>
            </a:pPr>
            <a:r>
              <a:rPr sz="1050" b="1">
                <a:solidFill>
                  <a:srgbClr val="697386"/>
                </a:solidFill>
              </a:rPr>
              <a:t>输入情报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CE0AA-D340-48ED-9A5C-D116981E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行业排名 · 情绪 · 经验 · 知识库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71DDF-BE01-45E2-9060-A26AEF8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1BC"/>
          </a:solidFill>
          <a:ln xmlns:a="http://schemas.openxmlformats.org/drawingml/2006/main" w="0">
            <a:solidFill>
              <a:srgbClr val="B9A1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32CE3-C898-42E5-9268-CA89417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571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DB2DB-30C4-4383-A723-3BF2492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006E"/>
                </a:solidFill>
              </a:defRPr>
            </a:pPr>
            <a:r>
              <a:rPr sz="1500" b="1">
                <a:solidFill>
                  <a:srgbClr val="6E006E"/>
                </a:solidFill>
              </a:rPr>
              <a:t>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21A49-D2F2-479B-81EC-F016929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个股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34095-B216-4615-A2F7-6181EE6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006E"/>
                </a:solidFill>
              </a:defRPr>
            </a:pPr>
            <a:r>
              <a:rPr sz="1350" b="1">
                <a:solidFill>
                  <a:srgbClr val="6E006E"/>
                </a:solidFill>
              </a:rPr>
              <a:t>对候选股排序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7D515-7BE7-469C-A2B8-A1F5C76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103D3-0B16-4219-BB50-1B9AC5E5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386"/>
                </a:solidFill>
              </a:defRPr>
            </a:pPr>
            <a:r>
              <a:rPr sz="1050" b="1">
                <a:solidFill>
                  <a:srgbClr val="697386"/>
                </a:solidFill>
              </a:rPr>
              <a:t>输入情报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30D27F-A73E-4641-A79A-901C4B4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K线特征 · 个股情绪 · 经验 · 知识库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77280-028B-4D3F-94E0-9139F9E5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1BC"/>
          </a:solidFill>
          <a:ln xmlns:a="http://schemas.openxmlformats.org/drawingml/2006/main" w="0">
            <a:solidFill>
              <a:srgbClr val="B9A1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DA14C-63F9-490B-9C6D-9632A8A3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2571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71F18-BA22-4E7C-939D-FB879ED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006E"/>
                </a:solidFill>
              </a:defRPr>
            </a:pPr>
            <a:r>
              <a:rPr sz="1500" b="1">
                <a:solidFill>
                  <a:srgbClr val="6E006E"/>
                </a:solidFill>
              </a:rPr>
              <a:t>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565E0-1FA7-4206-A831-0FB344B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分配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53F67-DB05-4629-93E5-35A0E332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718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006E"/>
                </a:solidFill>
              </a:defRPr>
            </a:pPr>
            <a:r>
              <a:rPr sz="1350" b="1">
                <a:solidFill>
                  <a:srgbClr val="6E006E"/>
                </a:solidFill>
              </a:rPr>
              <a:t>给出权重建议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2F6DD-5A34-41C5-A0B6-4CF621D3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67125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0F2EA-7582-419D-93D2-7077F26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24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386"/>
                </a:solidFill>
              </a:defRPr>
            </a:pPr>
            <a:r>
              <a:rPr sz="1050" b="1">
                <a:solidFill>
                  <a:srgbClr val="697386"/>
                </a:solidFill>
              </a:rPr>
              <a:t>输入情报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62EF7-7767-4B42-B36C-FAF85CB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672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前序结论 · 经验 · 当前组合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2C346-C788-4573-AB1A-2187282A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4B5058"/>
          </a:solidFill>
          <a:ln xmlns:a="http://schemas.openxmlformats.org/drawingml/2006/main" w="9525">
            <a:solidFill>
              <a:srgbClr val="4B50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0C189-BFC9-4464-B9F2-476504A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LLM 输出是“建议” → 约束层才生成“可执行订单”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E00AA-3CEE-4FE0-995C-3DB35048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8892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5BF5D4-E369-45EA-9E8C-C1B3FEB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06 · 经验学习闭环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3DD8-CB2C-4D3F-A6BA-78461C01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记忆层把一次决策变成下一次可复用的经验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96266-C546-48B0-8E76-430E037F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9CFDE-E87B-453B-955A-C5FAE2D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00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BAD2E-211F-4BB6-ABA1-C28CE285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337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4FC14-72DE-44B0-960E-39F982C6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01068-D439-41C8-B760-50E0D317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33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C50CA-8E7C-4014-BF99-C9E4A0BB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决策快照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86D0D-DF65-471D-90FD-9BC34FB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K线特征 + 情绪</a:t>
            </a:r>
          </a:p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行业 + 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17E55-7511-42B3-9958-4858E3F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00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5AF43-DD04-4171-8329-3AB0225F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337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80B24-89CA-4D6D-9E40-00771D9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BD8D6-DBE1-4E21-A5DE-EA69C9C6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33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B5966-70F6-43D7-A904-F477FECB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写入记忆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12BE6-684F-4116-A0C6-9EB147E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908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agent_memory.jsonl</a:t>
            </a:r>
          </a:p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决策记录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367A8-D358-4437-8A88-A7463709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00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0B581-52B1-4012-B011-9AB85C73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337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24DC-EE9C-4608-86D0-366E4C3C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DAC6A-AD03-45D8-8AAC-DA77161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33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B7B0D-0169-4194-AB23-0DE4939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结果回填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FEFBC-33D7-414A-B561-465F415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908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下个再平衡日</a:t>
            </a:r>
          </a:p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计算区间超额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1318A-61F3-4FD1-9C3E-124A6F4C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00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35F91-3400-4C07-8C34-BA7D249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7D0B6-CC63-4BA8-9BD2-8165C4A6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ABDEE-61E3-4F77-A6E6-44E04104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33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F000D-699C-4F75-B4FF-05E2074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相似召回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BC864F-3B04-48A0-AF9E-AF9E3DF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908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欧氏距离 + 同机制</a:t>
            </a:r>
          </a:p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仅召回已回填记录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42446-2837-44D9-BC9E-557FC56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FF2"/>
          </a:solidFill>
          <a:ln xmlns:a="http://schemas.openxmlformats.org/drawingml/2006/main" w="19050">
            <a:solidFill>
              <a:srgbClr val="6E00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671122-44EA-43A2-A00A-7D99D8DF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33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006E"/>
                </a:solidFill>
              </a:defRPr>
            </a:pPr>
            <a:r>
              <a:rPr sz="1200" b="1">
                <a:solidFill>
                  <a:srgbClr val="6E006E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BA4B77-CEB7-46D5-AEF6-70D65D8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051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注入 Prompt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1A42A-157D-469A-91AE-B2BB0137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908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≥3 条才注入</a:t>
            </a:r>
          </a:p>
          <a:p xmlns:a="http://schemas.openxmlformats.org/drawingml/2006/main">
            <a:pPr algn="ctr">
              <a:defRPr sz="1125" b="0">
                <a:solidFill>
                  <a:srgbClr val="697386"/>
                </a:solidFill>
              </a:defRPr>
            </a:pPr>
            <a:r>
              <a:rPr sz="1125" b="0">
                <a:solidFill>
                  <a:srgbClr val="697386"/>
                </a:solidFill>
              </a:rPr>
              <a:t>减少小样本噪声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43BB65-40BC-4BD5-96C7-3FFEBD22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5476875" cy="3619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D8BDD9"/>
          </a:solidFill>
          <a:ln xmlns:a="http://schemas.openxmlformats.org/drawingml/2006/main" w="0">
            <a:solidFill>
              <a:srgbClr val="D8BD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C4CA82-A62F-4C41-B6E5-E6A6429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E006E"/>
                </a:solidFill>
              </a:defRPr>
            </a:pPr>
            <a:r>
              <a:rPr sz="2025" b="1">
                <a:solidFill>
                  <a:srgbClr val="6E006E"/>
                </a:solidFill>
              </a:rPr>
              <a:t>决策 → 结果 → 召回 → 新决策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CA24C-8EBB-49B3-8383-672A3AC4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149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97386"/>
                </a:solidFill>
              </a:defRPr>
            </a:pPr>
            <a:r>
              <a:rPr sz="1350" b="0">
                <a:solidFill>
                  <a:srgbClr val="697386"/>
                </a:solidFill>
              </a:rPr>
              <a:t>不依赖 LLM 自我总结：直接保留结构化输入与真实结果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F917BF-6E96-4886-90CF-B2B1E510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2410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D55EAD-6F0C-4FF5-9D6A-4DC83DA1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07 · 回测结果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4F2CB-ABC7-4F6D-865F-0239706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LLM 在多种行情中改善决策，但急涨行情仍有滞后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25A31-FBDF-4A67-8177-04214123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FCDE1-CE0A-41EB-8E7F-704D139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2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44C97-64BA-46D6-B2CC-9D49AB76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3850" cy="875443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B7BBC2"/>
          </a:solidFill>
          <a:ln xmlns:a="http://schemas.openxmlformats.org/drawingml/2006/main" w="9525">
            <a:solidFill>
              <a:srgbClr val="B7BB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5BCF9-5174-41C5-BECF-F211AEFA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9293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D3D"/>
                </a:solidFill>
              </a:defRPr>
            </a:pPr>
            <a:r>
              <a:rPr sz="975" b="1">
                <a:solidFill>
                  <a:srgbClr val="C33D3D"/>
                </a:solidFill>
              </a:rPr>
              <a:t>-13.13%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A10E-F16D-42EB-A91C-BCBEF9D2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323850" cy="785431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E006E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F605E-FE2E-4780-80D6-6483AD4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9282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D3D"/>
                </a:solidFill>
              </a:defRPr>
            </a:pPr>
            <a:r>
              <a:rPr sz="975" b="1">
                <a:solidFill>
                  <a:srgbClr val="C33D3D"/>
                </a:solidFill>
              </a:rPr>
              <a:t>-11.78%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72934-4082-4668-B5E5-C1151717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924急涨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1E5FD-021A-4500-A9AD-55943A0C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07035"/>
            <a:ext cx="323850" cy="38871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B7BBC2"/>
          </a:solidFill>
          <a:ln xmlns:a="http://schemas.openxmlformats.org/drawingml/2006/main" w="9525">
            <a:solidFill>
              <a:srgbClr val="B7BB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7BF4E-E78C-4123-A2EB-F678F68E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5938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+5.83%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C2D88-760F-4E7B-B3DA-D7B9F18D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60362"/>
            <a:ext cx="323850" cy="435388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E006E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20613-0CA1-4350-AEA8-7CF86C4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12712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+6.53%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03334-E998-4F68-B448-3B0A1671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春节反弹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797E7-C8C8-4B6F-8736-BCA1CDB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7074"/>
            <a:ext cx="323850" cy="78677"/>
          </a:xfrm>
          <a:prstGeom xmlns:a="http://schemas.openxmlformats.org/drawingml/2006/main" prst="roundRect">
            <a:avLst>
              <a:gd name="adj" fmla="val 48426"/>
            </a:avLst>
          </a:prstGeom>
          <a:solidFill xmlns:a="http://schemas.openxmlformats.org/drawingml/2006/main">
            <a:srgbClr val="B7BBC2"/>
          </a:solidFill>
          <a:ln xmlns:a="http://schemas.openxmlformats.org/drawingml/2006/main" w="9525">
            <a:solidFill>
              <a:srgbClr val="B7BB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AC267-D1FD-4F33-8CFE-DCC0B9EE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9424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+1.18%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D56FF-C39A-421D-9105-35CD35AB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6376"/>
            <a:ext cx="323850" cy="3293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E006E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7B25C-2221-42C6-AAD4-5FEC2119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18726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+4.94%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949C6-6E6B-4FD7-8715-B442A71B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1月杀跌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711C3-6ECD-4064-8800-D5996D2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7051"/>
            <a:ext cx="323850" cy="258699"/>
          </a:xfrm>
          <a:prstGeom xmlns:a="http://schemas.openxmlformats.org/drawingml/2006/main" prst="roundRect">
            <a:avLst>
              <a:gd name="adj" fmla="val 14728"/>
            </a:avLst>
          </a:prstGeom>
          <a:solidFill xmlns:a="http://schemas.openxmlformats.org/drawingml/2006/main">
            <a:srgbClr val="B7BBC2"/>
          </a:solidFill>
          <a:ln xmlns:a="http://schemas.openxmlformats.org/drawingml/2006/main" w="9525">
            <a:solidFill>
              <a:srgbClr val="B7BB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DFB86-ED72-40C7-B5F0-CAA028D9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89401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+3.88%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EB0BA-3468-4B24-9EBF-82C45C3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0384"/>
            <a:ext cx="323850" cy="265367"/>
          </a:xfrm>
          <a:prstGeom xmlns:a="http://schemas.openxmlformats.org/drawingml/2006/main" prst="roundRect">
            <a:avLst>
              <a:gd name="adj" fmla="val 14358"/>
            </a:avLst>
          </a:prstGeom>
          <a:solidFill xmlns:a="http://schemas.openxmlformats.org/drawingml/2006/main">
            <a:srgbClr val="6E006E"/>
          </a:solidFill>
          <a:ln xmlns:a="http://schemas.openxmlformats.org/drawingml/2006/main" w="9525">
            <a:solidFill>
              <a:srgbClr val="6E00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23424-45E2-49A7-9F77-F3EB93A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82734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+3.98%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AC33A-0719-49E4-9CF7-0D8854F4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76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震荡阴跌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7105C-8451-4A88-A827-585BB8A3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04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8188"/>
                </a:solidFill>
              </a:defRPr>
            </a:pPr>
            <a:r>
              <a:rPr sz="1050" b="1">
                <a:solidFill>
                  <a:srgbClr val="7C8188"/>
                </a:solidFill>
              </a:rPr>
              <a:t>■ Offline 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0A7CC-D5A8-4192-873B-8F23286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■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49616-A9F4-4537-B711-CADD9E2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049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386"/>
                </a:solidFill>
              </a:defRPr>
            </a:pPr>
            <a:r>
              <a:rPr sz="1050" b="1">
                <a:solidFill>
                  <a:srgbClr val="697386"/>
                </a:solidFill>
              </a:rPr>
              <a:t>超额收益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85FBC-496E-4C51-B0B9-E766BA98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238500" cy="34290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7F0F8"/>
          </a:solidFill>
          <a:ln xmlns:a="http://schemas.openxmlformats.org/drawingml/2006/main" w="9525">
            <a:solidFill>
              <a:srgbClr val="D2B4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91213-DA43-4963-ABF3-26235E79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006E"/>
                </a:solidFill>
              </a:defRPr>
            </a:pPr>
            <a:r>
              <a:rPr sz="1800" b="1">
                <a:solidFill>
                  <a:srgbClr val="6E006E"/>
                </a:solidFill>
              </a:rPr>
              <a:t>读数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62275-B8DD-4AA8-8B64-87F463A4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E006E"/>
                </a:solidFill>
              </a:defRPr>
            </a:pPr>
            <a:r>
              <a:rPr sz="3450" b="1">
                <a:solidFill>
                  <a:srgbClr val="6E006E"/>
                </a:solidFill>
              </a:rPr>
              <a:t>3 /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87D825-8194-4BBB-A517-4535320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813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个行情段中，LLM 超额优于规则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BE8B7-5849-4076-A8C6-F9B0FE8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B4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2FC358-1CD6-4878-A70A-D35E6F7A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33D3D"/>
                </a:solidFill>
              </a:defRPr>
            </a:pPr>
            <a:r>
              <a:rPr sz="1350" b="1">
                <a:solidFill>
                  <a:srgbClr val="C33D3D"/>
                </a:solidFill>
              </a:rPr>
              <a:t>局限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8067F3-E011-4978-8ECF-CD02B4C5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924 急涨仍跑输基准：</a:t>
            </a:r>
          </a:p>
          <a:p xmlns:a="http://schemas.openxmlformats.org/drawingml/2006/main"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启动段信号形成滞后，候选池偏窄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0ECA61-5222-47A6-B418-6B04102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86"/>
                </a:solidFill>
              </a:defRPr>
            </a:pPr>
            <a:r>
              <a:rPr sz="1050" b="0">
                <a:solidFill>
                  <a:srgbClr val="697386"/>
                </a:solidFill>
              </a:rPr>
              <a:t>注：图示为相对基准的超额收益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3779E-CB30-4BBF-BCCA-055F6EB3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3630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ABB36-11F4-49E9-BB8E-BD0CFDAC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006E"/>
                </a:solidFill>
              </a:defRPr>
            </a:pPr>
            <a:r>
              <a:rPr sz="1050" b="1">
                <a:solidFill>
                  <a:srgbClr val="6E006E"/>
                </a:solidFill>
              </a:rPr>
              <a:t>08 · 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8801D-3921-4F7D-88C1-C1B894FE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规则确定 60%，LLM 推理 40%，风控拥有最终否决权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B80E-1550-4339-B4C6-286A9A1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56AC3-CA64-4EE1-B522-313CDFF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ACE58-EB55-4ACA-9C84-7E3F32B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1148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6E006E"/>
          </a:solidFill>
          <a:ln xmlns:a="http://schemas.openxmlformats.org/drawingml/2006/main" w="0">
            <a:solidFill>
              <a:srgbClr val="6E0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E1035-F03C-44A1-A891-DC1F677E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60% 规则与记忆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EE81F-3C5F-4CC8-99D3-13A2CDB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478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9C2"/>
                </a:solidFill>
              </a:defRPr>
            </a:pPr>
            <a:r>
              <a:rPr sz="1800" b="1">
                <a:solidFill>
                  <a:srgbClr val="1769C2"/>
                </a:solidFill>
              </a:rPr>
              <a:t>40% LLM 综合推理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907AF-FD0A-47D4-829D-BF187066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333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C2869-ADCE-4A99-B8FA-3F6A1D2E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006E"/>
                </a:solidFill>
              </a:defRPr>
            </a:pPr>
            <a:r>
              <a:rPr sz="1500" b="1">
                <a:solidFill>
                  <a:srgbClr val="6E006E"/>
                </a:solidFill>
              </a:rPr>
              <a:t>规则武装 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845E-C4B6-42FA-9766-1C0115C7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990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先算趋势、排名、特征和情绪</a:t>
            </a:r>
          </a:p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让模型聚焦语义综合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3C64E-8566-4AB2-A1E9-4DF76F35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333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1F9CB-8E69-4D0E-B7A2-7377EDA4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006E"/>
                </a:solidFill>
              </a:defRPr>
            </a:pPr>
            <a:r>
              <a:rPr sz="1500" b="1">
                <a:solidFill>
                  <a:srgbClr val="6E006E"/>
                </a:solidFill>
              </a:rPr>
              <a:t>经验形成闭环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82CE-BCDE-4D92-9F9D-AC407FB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14725"/>
            <a:ext cx="2990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记录决策，回填结果</a:t>
            </a:r>
          </a:p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相似行情优先召回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552CF-BB6A-4275-B4A1-24EE8519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3333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5AA50-CA6F-4071-9025-FC4D36B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5058"/>
                </a:solidFill>
              </a:defRPr>
            </a:pPr>
            <a:r>
              <a:rPr sz="1500" b="1">
                <a:solidFill>
                  <a:srgbClr val="4B5058"/>
                </a:solidFill>
              </a:rPr>
              <a:t>硬风控兜底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52D76-A78A-4F6D-BEAE-C3F37E5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14725"/>
            <a:ext cx="2990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现金、单股、持仓数量、整手</a:t>
            </a:r>
          </a:p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全部不可被 LLM 绕过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2ABCF-FDC8-46AD-BC2C-420C7329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8191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B5058"/>
          </a:solidFill>
          <a:ln xmlns:a="http://schemas.openxmlformats.org/drawingml/2006/main" w="9525">
            <a:solidFill>
              <a:srgbClr val="4B50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74553-53CE-48B5-99E0-A5A14D6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29250"/>
            <a:ext cx="765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规则层是情报员 · 记忆层是档案室 · LLM 层是分析师 · 约束层是合规官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7367A-0F4E-4C73-8D36-AC363ED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0AA"/>
                </a:solidFill>
              </a:defRPr>
            </a:pPr>
            <a:r>
              <a:rPr sz="900" b="1">
                <a:solidFill>
                  <a:srgbClr val="9AA0A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8710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2026-07-29T13:44:53.4630000Z</dcterms:created>
  <dcterms:modified xsi:type="dcterms:W3CDTF">2026-07-29T13:44:53.4630000Z</dcterms:modified>
</coreProperties>
</file>